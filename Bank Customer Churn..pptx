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2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1295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05389" y="1258988"/>
            <a:ext cx="9781222" cy="242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Ba</a:t>
            </a:r>
            <a:r>
              <a:rPr lang="en-US" altLang="zh-CN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nk </a:t>
            </a:r>
            <a:r>
              <a:rPr lang="en-US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Customer Churn Prediction with Machine Learning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438275" y="4081462"/>
            <a:ext cx="9315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- Gang Wei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702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385536" y="2057400"/>
            <a:ext cx="742092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$10 Million Question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3519487" y="3105150"/>
            <a:ext cx="598830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Can we identify high-risk customers *before* they leave?</a:t>
            </a:r>
            <a:endParaRPr sz="1800"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42291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Customer churn is a costly problem. Proactive retention is 5x cheaper than new acquisition. Our goal: Build a model to predict the 'Exited' (churn) variable.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060846" y="3405187"/>
            <a:ext cx="245030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Demographics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Key features include Age, Gender, and Geography. These tell us *who* the customer is.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790836" y="3405187"/>
            <a:ext cx="26103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Account Details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7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analyzed Balance, Credit Score, and the Number of Products held by the customer.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810863" y="3405187"/>
            <a:ext cx="219027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Bank Activity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8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Activity signals like Is Active Member, Tenure, and Has Credit Card are critical indicators.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7098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Understanding the Customer Profile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1. Preprocess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4629150"/>
            <a:ext cx="254124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Cleaned &amp; scaled data. Handled class imbalance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3343888" y="25717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2. Compare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3407419" y="305752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Trained 6 models (LR, KNN, SVM, RF, Naive Bayes, AdaBoost).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3. Tune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243339" y="4629150"/>
            <a:ext cx="2541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Used GridSearchCV to find the optimal hyperparameters for each model.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015728" y="25717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4. Select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079259" y="305752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Chose the best model based on F1-Score &amp; ROC AUC performance.</a:t>
            </a:r>
            <a:endParaRPr dirty="0"/>
          </a:p>
        </p:txBody>
      </p:sp>
      <p:sp>
        <p:nvSpPr>
          <p:cNvPr id="127" name="Google Shape;127;p16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Our 4-Step Analytical Process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1123950" y="5419725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Ensemble methods (AdaBoost) and SVM clearly outperformed simpler models, showing the strongest ability to discriminate between churners and non-churners.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Model Performance (ROC AUC)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And the Winner Is...</a:t>
            </a:r>
            <a:endParaRPr/>
          </a:p>
        </p:txBody>
      </p:sp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1524000"/>
            <a:ext cx="555069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AdaBoost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25431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AdaBoost classifier provided the best balance of performance and reliability, achieving the highest F1-Score (0.74) and ROC AUC (0.824) on the test data.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1123950" y="5419725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customer's Age and their Number of Products are overwhelmingly the most important predictors, accounting for over 70% of the model's decision-making.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Key Drivers of Churn (Feature Importance)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571500" y="2395537"/>
            <a:ext cx="110490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38%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71500" y="382428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of Churn predicted by Age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571500" y="4100512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Life Events Drive Churn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Key Finding #1: Age as a Driver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/>
        </p:nvSpPr>
        <p:spPr>
          <a:xfrm>
            <a:off x="2057400" y="2353865"/>
            <a:ext cx="8077200" cy="2559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Customers with only one product are a major flight risk. The path from 1 to 2 products is the most critical retention checkpoint.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1581150" y="2639615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1E8A6A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10334625" y="4818459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1E8A6A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Key Finding #2: Product "Stickiness"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571500" y="5532834"/>
            <a:ext cx="11049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Age and number of products are the two leading, most powerful predictors. Our retention strategy must be segmented by age and number of products brackets to be effective.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2190750" y="28479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Targeted Retention: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Launch proactive retention campaigns for customers in high-risk age brackets, offering incentives tailored to their life stage.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2190750" y="35528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Cross-Sell Strategy: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Aggressively market a 2nd product (e.g., credit card, savings account) to single-product customers. This is the lowest-hanging fruit for increasing "stickiness".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2190750" y="42576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Regional Focus: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Investigate *why* churn is higher in specific geographies (like Germany in our dataset) and address underlying regional issues, be it competition or service gaps.</a:t>
            </a:r>
            <a:endParaRPr/>
          </a:p>
        </p:txBody>
      </p:sp>
      <p:pic>
        <p:nvPicPr>
          <p:cNvPr id="185" name="Google Shape;18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895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6004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3053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From Model to Action: Recommendations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962025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962025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next logical step is to move this model from a static notebook into a production API. This would allow the bank to score all customers in real-time and flag high-risk accounts for immediate action.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6724650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Refinement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6724650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can further improve the model by incorporating cost-sensitive learning. The cost of a 'False Negative' (missing a real churner) is much higher than a 'False Positive', and the model should be tuned to reflect this business reality.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Future Work: Deployment &amp; Refinement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/>
        </p:nvSpPr>
        <p:spPr>
          <a:xfrm>
            <a:off x="295275" y="2295525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571500" y="36480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561</Words>
  <Application>Microsoft Office PowerPoint</Application>
  <PresentationFormat>Widescreen</PresentationFormat>
  <Paragraphs>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Lato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Gang Wei</cp:lastModifiedBy>
  <cp:revision>2</cp:revision>
  <dcterms:modified xsi:type="dcterms:W3CDTF">2025-11-07T23:56:31Z</dcterms:modified>
</cp:coreProperties>
</file>